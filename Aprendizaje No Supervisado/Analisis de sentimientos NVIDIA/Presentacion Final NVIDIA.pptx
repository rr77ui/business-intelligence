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6" r:id="rId20"/>
    <p:sldId id="277" r:id="rId21"/>
    <p:sldId id="278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D8F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TextBlob</c:v>
                </c:pt>
                <c:pt idx="1">
                  <c:v>Alpha Vantage</c:v>
                </c:pt>
                <c:pt idx="2">
                  <c:v>FinBERT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36.700000000000003</c:v>
                </c:pt>
                <c:pt idx="1">
                  <c:v>43.3</c:v>
                </c:pt>
                <c:pt idx="2">
                  <c:v>76.7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CD-4728-8DE4-5D6789E44F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3A4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BBB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B29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Menciones en 155 noticias relevantes</c:v>
                </c:pt>
              </c:strCache>
            </c:strRef>
          </c:tx>
          <c:spPr>
            <a:solidFill>
              <a:srgbClr val="2D5A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D3F5F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Geopolítica y Regulación</c:v>
                </c:pt>
                <c:pt idx="1">
                  <c:v>Alianzas y M&amp;A</c:v>
                </c:pt>
                <c:pt idx="2">
                  <c:v>Mercado y Valoración</c:v>
                </c:pt>
                <c:pt idx="3">
                  <c:v>Competencia</c:v>
                </c:pt>
                <c:pt idx="4">
                  <c:v>Resultados Financieros</c:v>
                </c:pt>
                <c:pt idx="5">
                  <c:v>Productos y Tecnología</c:v>
                </c:pt>
                <c:pt idx="6">
                  <c:v>Inversión y CAPEX</c:v>
                </c:pt>
                <c:pt idx="7">
                  <c:v>IA y Demanda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</c:v>
                </c:pt>
                <c:pt idx="1">
                  <c:v>44</c:v>
                </c:pt>
                <c:pt idx="2">
                  <c:v>54</c:v>
                </c:pt>
                <c:pt idx="3">
                  <c:v>55</c:v>
                </c:pt>
                <c:pt idx="4">
                  <c:v>58</c:v>
                </c:pt>
                <c:pt idx="5">
                  <c:v>77</c:v>
                </c:pt>
                <c:pt idx="6">
                  <c:v>102</c:v>
                </c:pt>
                <c:pt idx="7">
                  <c:v>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B1-4988-801C-CA438241E9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3F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9FAEC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A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BFD3D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3F5F"/>
                </a:solidFill>
                <a:latin typeface="Arial"/>
              </a:defRPr>
            </a:pPr>
            <a:r>
              <a:rPr lang="es-ES" sz="1200" b="0" i="0" u="none" strike="noStrike">
                <a:solidFill>
                  <a:srgbClr val="2D3F5F"/>
                </a:solidFill>
                <a:latin typeface="Arial"/>
              </a:rPr>
              <a:t>Precio de NVDA (cómo subió y bajó la acción)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Precio NVDA (USD)</c:v>
                </c:pt>
              </c:strCache>
            </c:strRef>
          </c:tx>
          <c:spPr>
            <a:ln w="38100" cap="flat">
              <a:solidFill>
                <a:srgbClr val="2D5A7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5A7B"/>
              </a:solidFill>
              <a:ln w="9525" cap="flat">
                <a:solidFill>
                  <a:srgbClr val="2D5A7B"/>
                </a:solidFill>
                <a:prstDash val="solid"/>
                <a:round/>
              </a:ln>
              <a:effectLst/>
            </c:spPr>
          </c:marker>
          <c:cat>
            <c:strRef>
              <c:f>Sheet1!$A$2:$A$18</c:f>
              <c:strCache>
                <c:ptCount val="17"/>
                <c:pt idx="0">
                  <c:v>Dic-08</c:v>
                </c:pt>
                <c:pt idx="1">
                  <c:v>Dic-09</c:v>
                </c:pt>
                <c:pt idx="2">
                  <c:v>Dic-10</c:v>
                </c:pt>
                <c:pt idx="3">
                  <c:v>Dic-11</c:v>
                </c:pt>
                <c:pt idx="4">
                  <c:v>Dic-12</c:v>
                </c:pt>
                <c:pt idx="5">
                  <c:v>Dic-15</c:v>
                </c:pt>
                <c:pt idx="6">
                  <c:v>Dic-16</c:v>
                </c:pt>
                <c:pt idx="7">
                  <c:v>Dic-17</c:v>
                </c:pt>
                <c:pt idx="8">
                  <c:v>Dic-18</c:v>
                </c:pt>
                <c:pt idx="9">
                  <c:v>Dic-19</c:v>
                </c:pt>
                <c:pt idx="10">
                  <c:v>Dic-22</c:v>
                </c:pt>
                <c:pt idx="11">
                  <c:v>Dic-23</c:v>
                </c:pt>
                <c:pt idx="12">
                  <c:v>Dic-24</c:v>
                </c:pt>
                <c:pt idx="13">
                  <c:v>Dic-26</c:v>
                </c:pt>
                <c:pt idx="14">
                  <c:v>Dic-29</c:v>
                </c:pt>
                <c:pt idx="15">
                  <c:v>Dic-30</c:v>
                </c:pt>
                <c:pt idx="16">
                  <c:v>Dic-31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144.5</c:v>
                </c:pt>
                <c:pt idx="1">
                  <c:v>142.80000000000001</c:v>
                </c:pt>
                <c:pt idx="2">
                  <c:v>138.19999999999999</c:v>
                </c:pt>
                <c:pt idx="3">
                  <c:v>139.5</c:v>
                </c:pt>
                <c:pt idx="4">
                  <c:v>141.19999999999999</c:v>
                </c:pt>
                <c:pt idx="5">
                  <c:v>138.9</c:v>
                </c:pt>
                <c:pt idx="6">
                  <c:v>134.6</c:v>
                </c:pt>
                <c:pt idx="7">
                  <c:v>135.80000000000001</c:v>
                </c:pt>
                <c:pt idx="8">
                  <c:v>137.19999999999999</c:v>
                </c:pt>
                <c:pt idx="9">
                  <c:v>142.30000000000001</c:v>
                </c:pt>
                <c:pt idx="10">
                  <c:v>144.1</c:v>
                </c:pt>
                <c:pt idx="11">
                  <c:v>146.80000000000001</c:v>
                </c:pt>
                <c:pt idx="12">
                  <c:v>147.19999999999999</c:v>
                </c:pt>
                <c:pt idx="13">
                  <c:v>149.5</c:v>
                </c:pt>
                <c:pt idx="14">
                  <c:v>148.19999999999999</c:v>
                </c:pt>
                <c:pt idx="15">
                  <c:v>144.9</c:v>
                </c:pt>
                <c:pt idx="16">
                  <c:v>142.30000000000001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A5-44D1-9D3C-CED1E8CB1C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A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9FAEC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A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BFD3D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F5F"/>
                </a:solidFill>
                <a:latin typeface="Arial"/>
              </a:defRPr>
            </a:pPr>
            <a:r>
              <a:rPr lang="es-ES" sz="1100" b="0" i="0" u="none" strike="noStrike">
                <a:solidFill>
                  <a:srgbClr val="2D3F5F"/>
                </a:solidFill>
                <a:latin typeface="Arial"/>
              </a:rPr>
              <a:t>Sentimiento de las noticias (positivo arriba de cero, negativo debajo)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Sentimiento diario</c:v>
                </c:pt>
              </c:strCache>
            </c:strRef>
          </c:tx>
          <c:spPr>
            <a:solidFill>
              <a:srgbClr val="1D8F5E"/>
            </a:solidFill>
            <a:effectLst/>
          </c:spPr>
          <c:invertIfNegative val="0"/>
          <c:cat>
            <c:strRef>
              <c:f>Sheet1!$A$2:$A$18</c:f>
              <c:strCache>
                <c:ptCount val="17"/>
                <c:pt idx="0">
                  <c:v>Dic-08</c:v>
                </c:pt>
                <c:pt idx="1">
                  <c:v>Dic-09</c:v>
                </c:pt>
                <c:pt idx="2">
                  <c:v>Dic-10</c:v>
                </c:pt>
                <c:pt idx="3">
                  <c:v>Dic-11</c:v>
                </c:pt>
                <c:pt idx="4">
                  <c:v>Dic-12</c:v>
                </c:pt>
                <c:pt idx="5">
                  <c:v>Dic-15</c:v>
                </c:pt>
                <c:pt idx="6">
                  <c:v>Dic-16</c:v>
                </c:pt>
                <c:pt idx="7">
                  <c:v>Dic-17</c:v>
                </c:pt>
                <c:pt idx="8">
                  <c:v>Dic-18</c:v>
                </c:pt>
                <c:pt idx="9">
                  <c:v>Dic-19</c:v>
                </c:pt>
                <c:pt idx="10">
                  <c:v>Dic-22</c:v>
                </c:pt>
                <c:pt idx="11">
                  <c:v>Dic-23</c:v>
                </c:pt>
                <c:pt idx="12">
                  <c:v>Dic-24</c:v>
                </c:pt>
                <c:pt idx="13">
                  <c:v>Dic-26</c:v>
                </c:pt>
                <c:pt idx="14">
                  <c:v>Dic-29</c:v>
                </c:pt>
                <c:pt idx="15">
                  <c:v>Dic-30</c:v>
                </c:pt>
                <c:pt idx="16">
                  <c:v>Dic-31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0.15</c:v>
                </c:pt>
                <c:pt idx="1">
                  <c:v>-0.1</c:v>
                </c:pt>
                <c:pt idx="2">
                  <c:v>-0.25</c:v>
                </c:pt>
                <c:pt idx="3">
                  <c:v>0.2</c:v>
                </c:pt>
                <c:pt idx="4">
                  <c:v>0.4</c:v>
                </c:pt>
                <c:pt idx="5">
                  <c:v>-0.15</c:v>
                </c:pt>
                <c:pt idx="6">
                  <c:v>-0.35</c:v>
                </c:pt>
                <c:pt idx="7">
                  <c:v>0.1</c:v>
                </c:pt>
                <c:pt idx="8">
                  <c:v>0.3</c:v>
                </c:pt>
                <c:pt idx="9">
                  <c:v>0.45</c:v>
                </c:pt>
                <c:pt idx="10">
                  <c:v>0.2</c:v>
                </c:pt>
                <c:pt idx="11">
                  <c:v>0.3</c:v>
                </c:pt>
                <c:pt idx="12">
                  <c:v>0.15</c:v>
                </c:pt>
                <c:pt idx="13">
                  <c:v>0.25</c:v>
                </c:pt>
                <c:pt idx="14">
                  <c:v>-0.05</c:v>
                </c:pt>
                <c:pt idx="15">
                  <c:v>-0.2</c:v>
                </c:pt>
                <c:pt idx="16">
                  <c:v>-0.1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E6-4E9D-87F9-308D2C1BFF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A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-0.5"/>
        </c:scaling>
        <c:delete val="0"/>
        <c:axPos val="l"/>
        <c:majorGridlines>
          <c:spPr>
            <a:ln w="6350" cap="flat">
              <a:solidFill>
                <a:srgbClr val="9FAEC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A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BFD3D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523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orig_slides/orig-0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orig_slides/orig-0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FD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noticias y no YouTube?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sobre la fuente de datos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3327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4D8D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 (descartado)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sobre acciones suelen ser ruido emocional: memes, hype, frustración. No reflejan al mercado profesional que mueve el precio.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D4E8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44652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NOTICIAS FINANCIERAS  (elegido)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26060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Escritas por analistas con acceso a fuentes primarias (earnings calls, comunicados). Reflejan el consenso profesional que sí mueve el precio.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Pedimos permiso al profesor y nos autorizó el cambio.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251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selección de las noticias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" y="55321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noticias solicitadas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Alpha Vantage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47548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389120" y="4846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389120" y="55321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texto completo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 tras scraping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47548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8138160" y="4846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138160" y="55321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alta relevancia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NVDA (score &gt; 0.8)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Limitaciones:  </a:t>
            </a:r>
            <a:r>
              <a:rPr lang="en-US" sz="10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concentrada en diciembre 2025 · sesgo de fuentes EE.UU. · scraping no exitoso en todos los medios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orig_slides/orig-0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FD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Limpieza del texto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preprocesamiento (Punto 4)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3327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490472" y="2103120"/>
            <a:ext cx="365760" cy="365760"/>
          </a:xfrm>
          <a:prstGeom prst="ellipse">
            <a:avLst/>
          </a:prstGeom>
          <a:solidFill>
            <a:srgbClr val="2D3F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490472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Minúsculas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'Nvidia' y 'NVIDIA' no se cuenten distinto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15768" y="30632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F5F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26080" y="228600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776472" y="2103120"/>
            <a:ext cx="365760" cy="365760"/>
          </a:xfrm>
          <a:prstGeom prst="ellipse">
            <a:avLst/>
          </a:prstGeom>
          <a:solidFill>
            <a:srgbClr val="2D3F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776472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2606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URLs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emojis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2918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aportan información semántica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01768" y="30632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F5F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12080" y="228600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062472" y="2103120"/>
            <a:ext cx="365760" cy="365760"/>
          </a:xfrm>
          <a:prstGeom prst="ellipse">
            <a:avLst/>
          </a:prstGeom>
          <a:solidFill>
            <a:srgbClr val="2D3F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062472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0" y="2606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Tokenización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32918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texto en palabras individuales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87768" y="30632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F5F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498080" y="228600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8348472" y="2103120"/>
            <a:ext cx="365760" cy="365760"/>
          </a:xfrm>
          <a:prstGeom prst="ellipse">
            <a:avLst/>
          </a:prstGeom>
          <a:solidFill>
            <a:srgbClr val="2D3F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8348472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89520" y="2606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 (EN)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89520" y="32918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'the', 'is', 'and'...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73768" y="30632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F5F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784080" y="228600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10634472" y="2103120"/>
            <a:ext cx="365760" cy="365760"/>
          </a:xfrm>
          <a:prstGeom prst="ellipse">
            <a:avLst/>
          </a:prstGeom>
          <a:solidFill>
            <a:srgbClr val="2D3F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634472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75520" y="2606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Lematización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75520" y="32918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→ run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(palabras reales)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66344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D4E0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868680" y="4800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5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CONSCIENTES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" y="51206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Lematización en vez de stemming: </a:t>
            </a: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palabras reales, más fáciles de interpretar.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Preservamos números y símbolos ($, Q4): </a:t>
            </a: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finanzas son informativos, no ruido.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466344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4E4C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492240" y="4800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51206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 lematiza asumiendo sustantivos por defecto. Verbos como 'launched' no pasan a 'launch'. Para análisis exploratorio es aceptable, pero limita los análisis más finos de verbos de acción.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FD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tres modelos de sentimiento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Triangulación para identificar sesgos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3327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11880" cy="91440"/>
          </a:xfrm>
          <a:prstGeom prst="rect">
            <a:avLst/>
          </a:prstGeom>
          <a:solidFill>
            <a:srgbClr val="B83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Vantage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comercial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que viene con cada noticia. Diseñado para inversores institucionales.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4069080"/>
            <a:ext cx="2464308" cy="292608"/>
          </a:xfrm>
          <a:prstGeom prst="rect">
            <a:avLst/>
          </a:prstGeom>
          <a:solidFill>
            <a:srgbClr val="1D8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41548" y="4069080"/>
            <a:ext cx="640080" cy="292608"/>
          </a:xfrm>
          <a:prstGeom prst="rect">
            <a:avLst/>
          </a:prstGeom>
          <a:solidFill>
            <a:srgbClr val="889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881628" y="4069080"/>
            <a:ext cx="96012" cy="292608"/>
          </a:xfrm>
          <a:prstGeom prst="rect">
            <a:avLst/>
          </a:prstGeom>
          <a:solidFill>
            <a:srgbClr val="B83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Bullish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4690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Neutral · 3% Bearish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5074920"/>
            <a:ext cx="3200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14400" y="5166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5440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Demasiado optimista por construcción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201168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343400" y="2011680"/>
            <a:ext cx="3611880" cy="91440"/>
          </a:xfrm>
          <a:prstGeom prst="rect">
            <a:avLst/>
          </a:prstGeom>
          <a:solidFill>
            <a:srgbClr val="B83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57200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TextBlob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NLP genérica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Polaridad léxica basada en diccionario general. No conoce contexto financiero.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794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Distribución: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4069080"/>
            <a:ext cx="3008376" cy="292608"/>
          </a:xfrm>
          <a:prstGeom prst="rect">
            <a:avLst/>
          </a:prstGeom>
          <a:solidFill>
            <a:srgbClr val="1D8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7580376" y="4069080"/>
            <a:ext cx="192024" cy="292608"/>
          </a:xfrm>
          <a:prstGeom prst="rect">
            <a:avLst/>
          </a:prstGeom>
          <a:solidFill>
            <a:srgbClr val="B83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57200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Bullish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4690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Neutral · 6% Bearish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5074920"/>
            <a:ext cx="3200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709160" y="5166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09160" y="5440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Inservible en finanzas: no entiende 'miss', 'cut', 'downgrade'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201168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8138160" y="2011680"/>
            <a:ext cx="3611880" cy="91440"/>
          </a:xfrm>
          <a:prstGeom prst="rect">
            <a:avLst/>
          </a:prstGeom>
          <a:solidFill>
            <a:srgbClr val="1D8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836676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FinBERT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36676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entrenado en finanzas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6676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Transformer especializado en lenguaje financiero (ProsusAI).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66760" y="3794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Distribución: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366760" y="4069080"/>
            <a:ext cx="1184148" cy="292608"/>
          </a:xfrm>
          <a:prstGeom prst="rect">
            <a:avLst/>
          </a:prstGeom>
          <a:solidFill>
            <a:srgbClr val="1D8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9550908" y="4069080"/>
            <a:ext cx="1504188" cy="292608"/>
          </a:xfrm>
          <a:prstGeom prst="rect">
            <a:avLst/>
          </a:prstGeom>
          <a:solidFill>
            <a:srgbClr val="889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11055096" y="4069080"/>
            <a:ext cx="512064" cy="292608"/>
          </a:xfrm>
          <a:prstGeom prst="rect">
            <a:avLst/>
          </a:prstGeom>
          <a:solidFill>
            <a:srgbClr val="B83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836676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Bullish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66760" y="4690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Neutral · 16% Bearish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366760" y="5074920"/>
            <a:ext cx="3200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8F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8503920" y="5166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503920" y="5440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realista — lo elegimos como referencia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orig_slides/orig-0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orig_slides/orig-0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FD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Validación manual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noticias revisadas a mano (Punto 7)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3327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5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EJERCICIO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estratificada de 30 noticias </a:t>
            </a: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Bullish + 10 Bearish + 10 Neutral según FinBERT)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una leída como inversionista: </a:t>
            </a: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¿esto es bueno, malo o solo informativo para alguien con NVDA en portafolio?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contra los 3 modelos </a:t>
            </a: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medir accuracy y matrices de confusión.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5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ETIQUETADO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8920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Bullish: </a:t>
            </a: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contratos, crecimiento, upgrades, beat de earnings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8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Bearish: </a:t>
            </a: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riesgos, downgrades, restricciones, competencia ganando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Neutral: </a:t>
            </a: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 operativos sin sesgo claro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2011680"/>
            <a:ext cx="5029200" cy="4434840"/>
          </a:xfrm>
          <a:prstGeom prst="roundRect">
            <a:avLst>
              <a:gd name="adj" fmla="val 1649"/>
            </a:avLst>
          </a:prstGeom>
          <a:solidFill>
            <a:srgbClr val="1B29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2084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ETIQUETA MANUAL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720840" y="2606040"/>
          <a:ext cx="45720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6720840" y="5303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FinBERT acierta el doble.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720840" y="57607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lo usamos como referencia en todo el análisis siguiente.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orig_slides/orig-0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orig_slides/orig-0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FD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8 categorías propias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Construidas para un inversionista en NVDA (Punto 8)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3327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topics de Alpha Vantage eran demasiado genéricos. Construimos categorías más específicas con palabras clave que reflejan los drivers reales del precio. Una noticia puede caer en varias (multi-label).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2651760"/>
          <a:ext cx="6858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5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Y SUS KEYWORDS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0" y="29718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y Demanda: </a:t>
            </a: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data center, llm, inference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y CAPEX: </a:t>
            </a: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capex, billion, infrastructure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Productos: </a:t>
            </a: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gpu, blackwell, rubin, cuda, silicon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</a:t>
            </a: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earnings, guidance, beat, miss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Competencia: </a:t>
            </a: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amd, intel, tsmc, broadcom, tpu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Mercado: </a:t>
            </a: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target, upgrade, downgrade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 y M&amp;A: </a:t>
            </a: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partnership, acquisition, contract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Geopolítica: </a:t>
            </a: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china, export, tariff, sanction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orig_slides/orig-0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FD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Cruce completo: las 8 categorías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 FinBERT por categoría (Punto 9)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3327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7040880" cy="312724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Bullish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Bearish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Bull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3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 y Tecnología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8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8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Geopolítica y Regulación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8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Resultados Financieros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8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y Demanda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3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8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 y Valoración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8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Alianzas y M&amp;A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 y CAPEX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01168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04672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5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CLAVE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4672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2926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y Tecnología es la categoría con mejor sentimiento neto (+35pp). Lo que sostiene a NVDA es su pipeline técnico.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0" y="4206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tiene el mayor % Bearish (20%). AMD está ganando narrativa en prensa especializada.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46720" y="5166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46720" y="54864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y CAPEX dominan en volumen pero su balance es neutro: son el motor y el riesgo a la vez.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FD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Precio NVDA vs Sentimiento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noticias afectan el precio de la acción?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5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QUEREMOS RESPONDER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noticias son positivas, ¿sube el precio de NVDA al día siguiente? Y si son negativas, ¿baja? Esto es lo que queríamos averiguar al cruzar las dos cosas.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D4E0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5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HICIMOS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Descargamos el precio diario de NVDA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Calculamos por cada día cuántas noticias buenas y malas hubo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Cruzamos los dos datos y medimos si había correlación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probamos si el sentimiento de hoy predice el precio de mañana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338328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F4E4C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ENCONTRAMOS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8620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correlación es muy baja: </a:t>
            </a: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días con noticias positivas no necesariamente terminan con el precio arriba.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 2025 estuvo dominado por otros factores </a:t>
            </a: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los flujos de fin de año, no por noticias.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sentimiento sirve como contexto, </a:t>
            </a: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como predicción del precio.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FD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¿Las noticias mueven el precio?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vemos al comparar precio y sentimiento día a día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3327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920240"/>
          <a:ext cx="10972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40080" y="4251960"/>
          <a:ext cx="1097280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5897880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1B29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4"/>
          <p:cNvSpPr/>
          <p:nvPr/>
        </p:nvSpPr>
        <p:spPr>
          <a:xfrm>
            <a:off x="868680" y="5989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las noticias y el precio no se mueven al mismo ritmo. El sentimiento ayuda como contexto, pero no sirve para predecir el precio.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FD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encontramos (1/2)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hallazgos clave del análisis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3327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9728" cy="1325880"/>
          </a:xfrm>
          <a:prstGeom prst="rect">
            <a:avLst/>
          </a:prstGeom>
          <a:solidFill>
            <a:srgbClr val="2D5A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D5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920240" y="213055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es lo que hace subir NVDA, pero también lo que la pone en peligro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25603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5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vimos:  </a:t>
            </a: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noticias sobre IA y sobre las inversiones que hacen las grandes tecnológicas son las más numerosas (113 y 102 noticias respectivamente).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8803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5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significa:  </a:t>
            </a: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historia de NVDA depende de que Microsoft, Meta, Google y Amazon sigan invirtiendo mucho en IA. Si frenan, NVDA cae.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109728" cy="1325880"/>
          </a:xfrm>
          <a:prstGeom prst="rect">
            <a:avLst/>
          </a:prstGeom>
          <a:solidFill>
            <a:srgbClr val="B83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6868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B8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920240" y="363931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sencillos exageran el optimismo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20240" y="4069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8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vimos:  </a:t>
            </a: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Vantage dice que el 77% de las noticias son positivas. TextBlob dice 94%. FinBERT, el que validamos, dice que solo el 37%.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43891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8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significa:  </a:t>
            </a: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usara los modelos sencillos para invertir, creería que todo está mucho mejor de lo que realmente está. Por eso elegimos FinBERT.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40080" y="4983480"/>
            <a:ext cx="109728" cy="1325880"/>
          </a:xfrm>
          <a:prstGeom prst="rect">
            <a:avLst/>
          </a:prstGeom>
          <a:solidFill>
            <a:srgbClr val="1D8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68680" y="5166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D8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920240" y="51480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sostiene a NVDA son sus productos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920240" y="55778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vimos:  </a:t>
            </a: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categoría 'Productos y Tecnología' es la única con un sentimiento claramente positivo (+35 puntos sobre el resto).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58978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significa:  </a:t>
            </a: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gente confía en los chips de NVDA (Blackwell, Rubin). Si alguna vez se retrasan o fallan, ahí sí caería en serio el precio.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BFD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encontramos (2/2)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hallazgos restantes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3327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9728" cy="1325880"/>
          </a:xfrm>
          <a:prstGeom prst="rect">
            <a:avLst/>
          </a:prstGeom>
          <a:solidFill>
            <a:srgbClr val="C28A2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28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920240" y="213055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conflicto con China es un riesgo del que nadie está hablando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25603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vimos:  </a:t>
            </a: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29 noticias hablan de geopolítica, es de las categorías con menos menciones en todo el dataset.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8803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significa:  </a:t>
            </a: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ya se acostumbró a las restricciones actuales. Pero si pasa algo nuevo (más sanciones, respuesta de China), va a sorprender a todos.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109728" cy="1325880"/>
          </a:xfrm>
          <a:prstGeom prst="rect">
            <a:avLst/>
          </a:prstGeom>
          <a:solidFill>
            <a:srgbClr val="B83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6868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B8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920240" y="363931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está empezando a hacerle competencia real a NVDA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20240" y="4069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8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vimos:  </a:t>
            </a: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categoría 'Competencia' es la que más noticias negativas tiene (20%). Y aparecen titulares hablando bien de AMD dentro del feed de NVDA.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43891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8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significa:  </a:t>
            </a: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un año NVDA estaba sola. Ahora la prensa especializada habla cada vez más de AMD como alternativa. Es una señal temprana de que el dominio puede romperse.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40080" y="4983480"/>
            <a:ext cx="109728" cy="1325880"/>
          </a:xfrm>
          <a:prstGeom prst="rect">
            <a:avLst/>
          </a:prstGeom>
          <a:solidFill>
            <a:srgbClr val="5A6A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68680" y="5166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5A6A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920240" y="51480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noticias no sirven para predecir el precio del día siguiente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920240" y="55778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vimos:  </a:t>
            </a: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comparamos día por día las noticias positivas/negativas con las subidas/bajadas del precio, no hay una relación clara.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58978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significa:  </a:t>
            </a: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sentimiento de las noticias da contexto general, pero no se puede usar solo para comprar o vender. Hay que combinarlo con otras variables.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FD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estrategias de inversión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adicionales para invertir en NVDA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3327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66160" cy="73152"/>
          </a:xfrm>
          <a:prstGeom prst="rect">
            <a:avLst/>
          </a:prstGeom>
          <a:solidFill>
            <a:srgbClr val="2D5A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5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Aprovechar los reportes de los clientes grandes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trimestre, Microsoft, Meta, Google y Amazon reportan cuánto van a invertir en IA. Comprar NVDA unos días antes y vender después es una buena estrategia.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53492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5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sirve?  </a:t>
            </a:r>
            <a:r>
              <a:rPr lang="en-US" sz="10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NVDA les vende los chips a estas empresas, cuando ellas anuncian que van a gastar más, NVDA sube.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201168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389120" y="2011680"/>
            <a:ext cx="3566160" cy="73152"/>
          </a:xfrm>
          <a:prstGeom prst="rect">
            <a:avLst/>
          </a:prstGeom>
          <a:solidFill>
            <a:srgbClr val="1D8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61772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25146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 un sistema de alertas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474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las noticias cada semana y prender alarmas si: aparecen muchas noticias malas de productos, AMD empieza a recibir mucha cobertura positiva, o sube el ruido sobre China.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53492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D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sirve?  </a:t>
            </a:r>
            <a:r>
              <a:rPr lang="en-US" sz="10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reaccionar antes de que el precio caiga, en vez de quedarse esperando.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8160" y="201168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8138160" y="2011680"/>
            <a:ext cx="3566160" cy="73152"/>
          </a:xfrm>
          <a:prstGeom prst="rect">
            <a:avLst/>
          </a:prstGeom>
          <a:solidFill>
            <a:srgbClr val="B83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36676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66760" y="25146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poner todos los huevos en NVDA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66760" y="3474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comprar solo NVDA, repartir el dinero: la mitad en NVDA y el resto en otras empresas del mismo sector como TSMC (la fábrica), Broadcom y AMD.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66760" y="53492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8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sirve?  </a:t>
            </a:r>
            <a:r>
              <a:rPr lang="en-US" sz="10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NVDA cae por algún problema específico, las otras empresas pueden compensar la pérdida.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BFD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y siguientes pasos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 y qué falta por hacer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66160" cy="73152"/>
          </a:xfrm>
          <a:prstGeom prst="rect">
            <a:avLst/>
          </a:prstGeom>
          <a:solidFill>
            <a:srgbClr val="2D5A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 el método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3200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es claramente el mejor modelo para analizar noticias financieras. Los modelos genéricos como TextBlob o Alpha Vantage exageran el optimismo y no sirven para tomar decisiones.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566160" cy="73152"/>
          </a:xfrm>
          <a:prstGeom prst="rect">
            <a:avLst/>
          </a:prstGeom>
          <a:solidFill>
            <a:srgbClr val="2D5A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61772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 NVDA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697480"/>
            <a:ext cx="3200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acción está fuerte gracias a sus productos y al boom de IA. Pero hay dos riesgos importantes: que AMD se ponga al día, y que China complique las cosas.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8138160" y="2011680"/>
            <a:ext cx="3566160" cy="73152"/>
          </a:xfrm>
          <a:prstGeom prst="rect">
            <a:avLst/>
          </a:prstGeom>
          <a:solidFill>
            <a:srgbClr val="2D5A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36676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 las noticias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2697480"/>
            <a:ext cx="3200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noticias sirven para entender el contexto, pero no predicen el precio del día siguiente. Hay que combinarlas con otros análisis para tomar buenas decisiones.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5074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3949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  <a:buSzPct val="100000"/>
            </a:pP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9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8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Gracias.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2286000" cy="0"/>
          </a:xfrm>
          <a:prstGeom prst="line">
            <a:avLst/>
          </a:prstGeom>
          <a:noFill/>
          <a:ln w="25400">
            <a:solidFill>
              <a:srgbClr val="1D8F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¿Preguntas?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 NVDA  ·  Juan Esteban Rave, Ricardo Damato, Jeyner Castaño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1804</Words>
  <Application>Microsoft Office PowerPoint</Application>
  <PresentationFormat>Panorámica</PresentationFormat>
  <Paragraphs>253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Sentimiento NVIDIA</dc:title>
  <dc:subject>PptxGenJS Presentation</dc:subject>
  <dc:creator>Juan Esteban Rave, Ricardo Damato, Jeyner Castaño</dc:creator>
  <cp:lastModifiedBy>Juan Esteban Rave Ramirez</cp:lastModifiedBy>
  <cp:revision>4</cp:revision>
  <dcterms:created xsi:type="dcterms:W3CDTF">2026-05-11T14:00:12Z</dcterms:created>
  <dcterms:modified xsi:type="dcterms:W3CDTF">2026-05-11T15:56:36Z</dcterms:modified>
</cp:coreProperties>
</file>